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726"/>
  </p:normalViewPr>
  <p:slideViewPr>
    <p:cSldViewPr snapToGrid="0">
      <p:cViewPr varScale="1">
        <p:scale>
          <a:sx n="120" d="100"/>
          <a:sy n="120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5EBAE-3F8A-F541-B516-54BF1CCE7C48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C5FEA-1E0E-B843-B004-93982F42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CEE7-6952-478A-4D59-0C4F45691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9786-F04D-B0B3-526F-DE0C1E31F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ADDB-C172-A1E0-5DF5-579D77AFC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6AEAF-0608-D2DD-7F5F-7287D4A7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D6018-5AA2-A374-5921-8B115B08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6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BEFE-6313-C429-D85B-002CF45D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D0CCE-B9BA-6172-6C87-231D2EA7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A1FC6-582F-DF48-FC58-791C4C242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27312-C6A1-A174-F5DA-CCA64863C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FFFE0-9BFE-BA14-CA1F-B48DBE8C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8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C10BE-557C-AC51-1BAE-4D7C31B6B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22851-B510-6D73-C0C5-61C922113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FFB0A-C2BB-929C-5248-1166FF41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40DD-3F4D-2F46-936D-2F73434FE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049A3-3DEF-3F42-2E81-DF184DEC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4250-38BE-9042-B175-AA2F05AC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74D0F-A784-5FB4-AAD7-68A1A9CB2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EA52A-58E1-9405-4A1B-A57C909F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A8A65-90A3-435B-7345-BEC7226D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83A15-4D62-178A-B0CD-71AEA416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5C732-2F6F-48D9-A179-BD338143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9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7D18-2AD5-24DB-7EBF-D95B44A4F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75899-9F7D-0735-326F-9D3D843C9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005DF-9451-5523-2547-DA1BBB3A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B33346-6A78-9ADA-8C10-8487ADD72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23C8D-ABA0-02F7-F8C0-98F075D84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5F18F-794C-D886-D4D6-8197E3E4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9DA91-0492-D279-C29E-ED7FA02D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527B70-3846-94F9-8237-75434533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31123-961D-EA8A-6CD2-E46016DD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DD580-5806-02E5-8DFA-D7778694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C3426-336E-D19D-55DF-A355083B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9756F-F9F7-764B-9038-C24FD01D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8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E0F14-756C-38B9-CB7D-447CDC1D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928CB-4D0E-3531-F19F-574A6976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0526D-6B77-5ABD-42B0-D4D65289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9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CD2B-77A7-E14F-71AF-53C1648D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DBE9E-30C7-7859-041A-5E826CF78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E9C90-E626-4DA3-71C0-617BBF797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98541-34DC-0847-3B83-15A90AC24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6F643-1B9E-76F7-CAB9-7A260251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1EBFC-CC95-C062-2542-5C32DC65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9E6E9-201D-1314-035F-D1A07FF89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206E7-EF2E-5858-34D9-2CC728A93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AB978-5D96-7A42-C4AA-80BEE190E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63F44-263A-D857-C0C9-1C70B7D9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56945-C0F8-C90F-F718-DC8AF34C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C930D-C22A-DF79-99FE-53DE968B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6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7620-90B2-E764-9C08-9AE6E1BC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12104-03D7-0A80-AC24-69ED68EE6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4A231-8DE5-C6C2-5972-7EA53D59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81A16-82E6-860D-C575-089DB20F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AEC2-7AEE-FDD6-AA86-522C32B4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1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464BB-3892-B885-DD4D-7356EC7F4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9ABCD-9762-479C-609E-30D654C9B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8DD19-D840-9231-5442-B190F025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A7EE7-0CAE-CA10-4473-5731CE9F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A77EA-92E9-7374-D161-AC5409DA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8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16870-EBB5-8835-E148-7EFA0F677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51CA4-938F-7E24-7651-3E2CA4722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5EB8D-5237-A4E8-2BED-6BABC150BE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DD21F-6403-4245-8EC8-A9A999BABF9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CF1BA-D88D-2278-E1F1-069EF5378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C0B82-F352-038A-640D-B075886CB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5E231-40E1-6644-8B8A-DEDF716BE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2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3624-0905-0EE7-6E60-B4AC2F5E3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Lecture 14: </a:t>
            </a:r>
            <a:r>
              <a:rPr lang="en-US" dirty="0"/>
              <a:t>ZCR, Autocorrelation and AMDF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ACC6F-5E7A-D2B0-B58D-DEBE26B763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 537</a:t>
            </a:r>
          </a:p>
        </p:txBody>
      </p:sp>
    </p:spTree>
    <p:extLst>
      <p:ext uri="{BB962C8B-B14F-4D97-AF65-F5344CB8AC3E}">
        <p14:creationId xmlns:p14="http://schemas.microsoft.com/office/powerpoint/2010/main" val="2351786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D05C-C0EC-F164-AAB8-3FB928E3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53CA-CF48-9D82-B940-EE0169107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Zero-crossing rate (ZCR)</a:t>
            </a:r>
          </a:p>
          <a:p>
            <a:r>
              <a:rPr lang="en-US" dirty="0"/>
              <a:t>Autocorrelation</a:t>
            </a:r>
          </a:p>
          <a:p>
            <a:r>
              <a:rPr lang="en-US" dirty="0"/>
              <a:t>Modified short-time autocorrelation</a:t>
            </a:r>
          </a:p>
          <a:p>
            <a:r>
              <a:rPr lang="en-US" dirty="0"/>
              <a:t>Average magnitude difference function (AMDF)</a:t>
            </a:r>
          </a:p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666420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B02E-6405-E75D-340A-866591F7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Zero-crossing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61A7E-527A-8BFB-8211-67140295F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801" y="1487432"/>
            <a:ext cx="3852935" cy="22332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D6E8C5-E16D-6327-4E8C-65051AB34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605" y="3922233"/>
            <a:ext cx="5613835" cy="1068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78C917-4EE3-FB7E-41E7-AC561F0B9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921" y="5079022"/>
            <a:ext cx="3575001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5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E921A-32C9-5335-A84E-225208F4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87F2-6450-F8BB-DA6F-764154C64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Zero-crossing rate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28D4E0-1C58-DA0B-217B-3AEDA4E42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" y="1980714"/>
            <a:ext cx="6825893" cy="3442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D2994B-83F1-38B7-8029-991E19729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308" y="1690688"/>
            <a:ext cx="5067464" cy="38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0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6CCE-0828-D2F1-136A-DD215ADBA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9443-A01D-D685-A701-4F7C704E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537D4-8D67-0513-DC9C-01CA5EC51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Zero-crossing rate (ZCR)</a:t>
            </a:r>
          </a:p>
          <a:p>
            <a:r>
              <a:rPr lang="en-US" dirty="0"/>
              <a:t>Autocorrelation</a:t>
            </a:r>
          </a:p>
          <a:p>
            <a:r>
              <a:rPr lang="en-US" dirty="0"/>
              <a:t>Modified short-time autocorrelation</a:t>
            </a:r>
          </a:p>
          <a:p>
            <a:r>
              <a:rPr lang="en-US" dirty="0"/>
              <a:t>Average magnitude difference function (AMDF)</a:t>
            </a:r>
          </a:p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492974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E0675-3338-C166-BD5B-0E78BB15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1DDC1A-927B-F030-C0A6-A3B874E378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56278"/>
              </a:xfrm>
            </p:spPr>
            <p:txBody>
              <a:bodyPr/>
              <a:lstStyle/>
              <a:p>
                <a:r>
                  <a:rPr lang="en-US" dirty="0"/>
                  <a:t>The autocorrelation of a random signal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Key properties: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It is an even function,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Upper-bounded by energy: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periodic with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wide-sense stationary ergodic signals: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1DDC1A-927B-F030-C0A6-A3B874E37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56278"/>
              </a:xfrm>
              <a:blipFill>
                <a:blip r:embed="rId2"/>
                <a:stretch>
                  <a:fillRect l="-1086" t="-3200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44A15C4-98D7-E22B-5552-7F36E2431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092" y="4908327"/>
            <a:ext cx="6929197" cy="147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60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5AF4-D30D-1D7F-5327-EF190FA1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06" y="365125"/>
            <a:ext cx="2511972" cy="3565744"/>
          </a:xfrm>
        </p:spPr>
        <p:txBody>
          <a:bodyPr/>
          <a:lstStyle/>
          <a:p>
            <a:r>
              <a:rPr lang="en-US" dirty="0"/>
              <a:t>Short-time autocorrelation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6605B-C7FA-CCDD-56B6-6CDF8C174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65" y="5780252"/>
            <a:ext cx="7731670" cy="1077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1F9DC7-9040-F5AB-E9FC-F72EC0925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193" y="0"/>
            <a:ext cx="7679477" cy="578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36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AB6A9-0826-63F2-47ED-5A40052C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829" y="365125"/>
            <a:ext cx="2619703" cy="2745937"/>
          </a:xfrm>
        </p:spPr>
        <p:txBody>
          <a:bodyPr/>
          <a:lstStyle/>
          <a:p>
            <a:r>
              <a:rPr lang="en-US" dirty="0"/>
              <a:t>Short-time autocorrelation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8DBA1-EA81-B331-1837-4849EF844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9829" y="3570340"/>
                <a:ext cx="4437993" cy="21577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Autocorrelation is useful for finding the pitch period,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begChr m:val="["/>
                        <m:endChr m:val="]"/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</m:d>
                  </m:oMath>
                </a14:m>
                <a:r>
                  <a:rPr lang="en-US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peak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8DBA1-EA81-B331-1837-4849EF844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829" y="3570340"/>
                <a:ext cx="4437993" cy="2157796"/>
              </a:xfrm>
              <a:blipFill>
                <a:blip r:embed="rId2"/>
                <a:stretch>
                  <a:fillRect l="-2857" t="-4678" r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9712B95-D3F8-D8DC-C4AB-399F781FA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884" y="0"/>
            <a:ext cx="5123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6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2497F-9D03-DACA-0F51-07590FB74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04C59-F7D8-7AB7-125E-1E9155D67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5633"/>
            <a:ext cx="5837024" cy="813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61DBBE-74E7-A0DE-0C6A-4A9A04B3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41" y="28797"/>
            <a:ext cx="4450567" cy="33498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3798433-4222-43EA-7566-7AE86F47EC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520" y="4516263"/>
                <a:ext cx="5562597" cy="195810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800" dirty="0"/>
                  <a:t> is a length-L window with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|≤1</m:t>
                    </m:r>
                  </m:oMath>
                </a14:m>
                <a:r>
                  <a:rPr lang="en-US" sz="1800" dirty="0"/>
                  <a:t>, then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l-G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3798433-4222-43EA-7566-7AE86F47EC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520" y="4516263"/>
                <a:ext cx="5562597" cy="1958106"/>
              </a:xfrm>
              <a:blipFill>
                <a:blip r:embed="rId4"/>
                <a:stretch>
                  <a:fillRect l="-911" t="-50968" b="-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ECDC3EA-982F-F7F8-C0F4-9F37849EE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978" y="617866"/>
            <a:ext cx="4927380" cy="562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12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3609-B109-4B66-CF84-EC9B6060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4F06F-4E0E-16B7-2D90-930731EC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C2EF4-F37C-5935-F36F-294D87336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Zero-crossing rate (ZCR)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Autocorrelation</a:t>
            </a:r>
          </a:p>
          <a:p>
            <a:r>
              <a:rPr lang="en-US" dirty="0"/>
              <a:t>Modified short-time autocorrelation</a:t>
            </a:r>
          </a:p>
          <a:p>
            <a:r>
              <a:rPr lang="en-US" dirty="0"/>
              <a:t>Average magnitude difference function (AMDF)</a:t>
            </a:r>
          </a:p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080163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FAD8-0E51-979A-DC0A-71E2465E3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19" y="365125"/>
            <a:ext cx="2293883" cy="3502682"/>
          </a:xfrm>
        </p:spPr>
        <p:txBody>
          <a:bodyPr/>
          <a:lstStyle/>
          <a:p>
            <a:r>
              <a:rPr lang="en-US" dirty="0"/>
              <a:t>Modified short-time autocorrelation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5181F-0E66-3CDD-648C-D19899FB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562" y="5872873"/>
            <a:ext cx="7455693" cy="995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CFC029-F5A7-FBE6-515D-B8246803B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991" y="1"/>
            <a:ext cx="7461191" cy="586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1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DD91-133D-F19B-84A7-CE3DB1E0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39" y="228491"/>
            <a:ext cx="5163207" cy="1325563"/>
          </a:xfrm>
        </p:spPr>
        <p:txBody>
          <a:bodyPr/>
          <a:lstStyle/>
          <a:p>
            <a:r>
              <a:rPr lang="en-US" dirty="0"/>
              <a:t>Modified short-time autocorrelation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AC38F3-D912-6DF0-D488-03614C2C3E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228" y="1825624"/>
                <a:ext cx="5307724" cy="4690789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designed so that </a:t>
                </a: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for all values of k, then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example at right is designed so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acc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for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up to about 100.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AC38F3-D912-6DF0-D488-03614C2C3E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228" y="1825624"/>
                <a:ext cx="5307724" cy="4690789"/>
              </a:xfrm>
              <a:blipFill>
                <a:blip r:embed="rId2"/>
                <a:stretch>
                  <a:fillRect l="-10740" t="-22642" r="-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DC0812E-9CC9-8B25-C7C8-F2A8E5A82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97" y="17061"/>
            <a:ext cx="5163207" cy="681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85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1090C-518B-5719-494C-791F562A2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8744-9F79-C875-78E0-2EEEF67A4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7C90C-9B46-98BD-244E-F551EA2A4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Zero-crossing rate (ZCR)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Autocorrelation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Modified short-time autocorrelation</a:t>
            </a:r>
          </a:p>
          <a:p>
            <a:r>
              <a:rPr lang="en-US" dirty="0"/>
              <a:t>Average magnitude difference function (AMDF)</a:t>
            </a:r>
          </a:p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428558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B7D2-D8B9-A4D7-7DDD-5766179B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60" y="165429"/>
            <a:ext cx="10515600" cy="840455"/>
          </a:xfrm>
        </p:spPr>
        <p:txBody>
          <a:bodyPr>
            <a:normAutofit/>
          </a:bodyPr>
          <a:lstStyle/>
          <a:p>
            <a:r>
              <a:rPr lang="en-US" sz="4000" dirty="0"/>
              <a:t>Average magnitude difference function (AMDF)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BA67A-1C6C-3366-AB3F-DC9635F41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2" y="1804603"/>
            <a:ext cx="5234151" cy="3030154"/>
          </a:xfrm>
        </p:spPr>
        <p:txBody>
          <a:bodyPr>
            <a:normAutofit/>
          </a:bodyPr>
          <a:lstStyle/>
          <a:p>
            <a:r>
              <a:rPr lang="en-US" dirty="0"/>
              <a:t>The AMDF is just the average (over a window) of the magnitude of the difference between samples.</a:t>
            </a:r>
          </a:p>
          <a:p>
            <a:r>
              <a:rPr lang="en-US" dirty="0"/>
              <a:t>Whereas the autocorrelation has a peak at the pitch period, the AMDF has a valley.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C1B5B-BA75-14BF-993D-EB4DBDCD0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862" y="890566"/>
            <a:ext cx="6545052" cy="8611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892729-A61D-2737-4FF0-3941F0F1F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032" y="1639614"/>
            <a:ext cx="6483478" cy="492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93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819E0-2345-AC18-2F83-9F4FABCA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58853-41AF-83EA-2795-9AE2A933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60" y="165429"/>
            <a:ext cx="10515600" cy="840455"/>
          </a:xfrm>
        </p:spPr>
        <p:txBody>
          <a:bodyPr>
            <a:normAutofit/>
          </a:bodyPr>
          <a:lstStyle/>
          <a:p>
            <a:r>
              <a:rPr lang="en-US" sz="4000" dirty="0"/>
              <a:t>Average magnitude difference function (AMDF)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9F3C-BD9E-3954-E3D3-3F6D0BDF9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2" y="1941237"/>
            <a:ext cx="5234151" cy="45016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AMDF is useful for two reasons:</a:t>
            </a:r>
          </a:p>
          <a:p>
            <a:r>
              <a:rPr lang="en-US" dirty="0"/>
              <a:t>On some processors, subtracting is less computationally expensive than multiplying.</a:t>
            </a:r>
          </a:p>
          <a:p>
            <a:r>
              <a:rPr lang="en-US" dirty="0"/>
              <a:t>The AMDF is roughly the square root of energy minus autocorrelation.  The square root operation “sharpens” the valley, making it possible to locate the pitch period more precisely.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0EAF2-C555-0F67-3AD8-4AEE87A5E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40" y="890566"/>
            <a:ext cx="6545052" cy="8611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92A180-570C-07FF-DC73-5760517A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032" y="1639614"/>
            <a:ext cx="6483478" cy="4925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492391-FB9F-8FC3-99BC-C9B39DDAA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531" y="1045007"/>
            <a:ext cx="3796093" cy="6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63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E99CA-1278-EB79-593E-31FBBBB1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5B96-1341-950F-1FC7-937B4EB2A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AAFC3-9A26-5A50-6826-C399B888C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Zero-crossing rate (ZCR)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Autocorrelation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Modified short-time autocorrelation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Average magnitude difference function (AMDF)</a:t>
            </a:r>
          </a:p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91249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F21D9-1350-7FBE-F53C-7CA04D51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B333-6A5C-F98F-B3BE-D97A95D83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x[n] is a random signal composed of two sinusoids with random phase, one at 400Hz, one at 500Hz.  Find the autocorrelation.</a:t>
            </a:r>
          </a:p>
          <a:p>
            <a:r>
              <a:rPr lang="en-US" dirty="0"/>
              <a:t>Show that the expected value of the short-time autocorrelation is proportional to </a:t>
            </a:r>
            <a:r>
              <a:rPr lang="en-US"/>
              <a:t>the autocorrelation.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5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421</Words>
  <Application>Microsoft Macintosh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Lecture 14: ZCR, Autocorrelation and AMDF</vt:lpstr>
      <vt:lpstr>Outline</vt:lpstr>
      <vt:lpstr>Zero-crossing rate</vt:lpstr>
      <vt:lpstr>Zero-crossing rate</vt:lpstr>
      <vt:lpstr>Outline</vt:lpstr>
      <vt:lpstr>Autocorrelation</vt:lpstr>
      <vt:lpstr>Short-time autocorrelation</vt:lpstr>
      <vt:lpstr>Short-time autocorrelation</vt:lpstr>
      <vt:lpstr>PowerPoint Presentation</vt:lpstr>
      <vt:lpstr>Outline</vt:lpstr>
      <vt:lpstr>Modified short-time autocorrelation</vt:lpstr>
      <vt:lpstr>Modified short-time autocorrelation</vt:lpstr>
      <vt:lpstr>Outline</vt:lpstr>
      <vt:lpstr>Average magnitude difference function (AMDF)</vt:lpstr>
      <vt:lpstr>Average magnitude difference function (AMDF)</vt:lpstr>
      <vt:lpstr>Outline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Hasegawa-Johnson, Mark</dc:creator>
  <cp:lastModifiedBy>Hasegawa-Johnson, Mark</cp:lastModifiedBy>
  <cp:revision>19</cp:revision>
  <cp:lastPrinted>2024-09-19T23:55:30Z</cp:lastPrinted>
  <dcterms:created xsi:type="dcterms:W3CDTF">2024-09-12T21:18:20Z</dcterms:created>
  <dcterms:modified xsi:type="dcterms:W3CDTF">2026-10-11T20:01:19Z</dcterms:modified>
</cp:coreProperties>
</file>